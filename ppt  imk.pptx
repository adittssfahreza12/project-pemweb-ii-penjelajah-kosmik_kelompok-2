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7" r:id="rId3"/>
    <p:sldId id="257" r:id="rId4"/>
    <p:sldId id="26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A3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82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105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428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C484B-9A1A-BE13-36B3-DAFFDBCC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48CD22-6C4D-C655-247C-F40E20884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53089C-7E55-5C15-6A75-5E8795928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1F0DE-9AFA-3796-8E7F-0ABB788F97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3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0D5B6-B28B-0F2C-FDDF-6438D5DDD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D83A7F-082F-BDFE-2430-C9C525CCF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F1FCA-699C-04A1-38EB-D22DF179A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2CBF0-DA24-2676-13B1-3E69720C1C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67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341DC-EAE9-C408-E871-4E87BC36C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692108-D574-375B-7BE3-A8F1A7797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BFB1FB-5965-4405-1081-236903883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12D62-9C1D-1A7D-A5BB-77005AAF58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42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4572000" cy="4572000"/>
          </a:xfrm>
          <a:prstGeom prst="ellipse">
            <a:avLst/>
          </a:prstGeom>
          <a:solidFill>
            <a:srgbClr val="4A7C6F">
              <a:alpha val="18000"/>
            </a:srgbClr>
          </a:solidFill>
          <a:ln w="12700">
            <a:solidFill>
              <a:srgbClr val="4A7C6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84B59F">
              <a:alpha val="22000"/>
            </a:srgbClr>
          </a:solidFill>
          <a:ln w="12700">
            <a:solidFill>
              <a:srgbClr val="84B59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2D"/>
                </a:solidFill>
              </a:rPr>
              <a:t>SDG 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82296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920240" y="822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SDG 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298448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SmarthGrowth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11480" y="248716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8D4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Monitoring &amp; </a:t>
            </a:r>
            <a:r>
              <a:rPr lang="en-US" sz="2000">
                <a:solidFill>
                  <a:srgbClr val="B8D4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Edukasi Perkembangan Anak Usia 0-8 Tahun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11480" y="3154680"/>
            <a:ext cx="3474720" cy="36576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11480" y="33375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Solusi digital bagi orang tua dalam memantau</a:t>
            </a:r>
            <a:endParaRPr lang="en-US" sz="1350" dirty="0"/>
          </a:p>
          <a:p>
            <a:r>
              <a:rPr lang="en-US" sz="13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tumbuh </a:t>
            </a:r>
            <a:r>
              <a:rPr lang="en-US" sz="135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kembang anak usia 0 hingga 8 tahun secara terstruktur</a:t>
            </a:r>
            <a:endParaRPr lang="en-US" sz="1350" dirty="0">
              <a:solidFill>
                <a:srgbClr val="94A3B8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Berbasis KPSP · Buku KIA · Standar WHO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3736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C8E474-7AEF-3890-7EEF-66E914A8A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66D556-ECB3-0978-A4EC-AD223BF94C31}"/>
              </a:ext>
            </a:extLst>
          </p:cNvPr>
          <p:cNvSpPr/>
          <p:nvPr/>
        </p:nvSpPr>
        <p:spPr>
          <a:xfrm>
            <a:off x="6460574" y="-1355259"/>
            <a:ext cx="4572000" cy="4572000"/>
          </a:xfrm>
          <a:prstGeom prst="ellipse">
            <a:avLst/>
          </a:prstGeom>
          <a:solidFill>
            <a:srgbClr val="4A7C6F">
              <a:alpha val="18000"/>
            </a:srgbClr>
          </a:solidFill>
          <a:ln w="12700">
            <a:solidFill>
              <a:srgbClr val="4A7C6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693CF47-E762-F1EB-23A2-067B9F8E6AF9}"/>
              </a:ext>
            </a:extLst>
          </p:cNvPr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84B59F">
              <a:alpha val="22000"/>
            </a:srgbClr>
          </a:solidFill>
          <a:ln w="12700">
            <a:solidFill>
              <a:srgbClr val="84B59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255032D-7B05-C12E-89E8-67C2FE2818FB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CDC4E7D-5D4C-DE91-5026-967D05875FFD}"/>
              </a:ext>
            </a:extLst>
          </p:cNvPr>
          <p:cNvSpPr/>
          <p:nvPr/>
        </p:nvSpPr>
        <p:spPr>
          <a:xfrm>
            <a:off x="2528653" y="1747158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C78330E-6B80-39D5-6875-4C46C7DC7384}"/>
              </a:ext>
            </a:extLst>
          </p:cNvPr>
          <p:cNvSpPr/>
          <p:nvPr/>
        </p:nvSpPr>
        <p:spPr>
          <a:xfrm>
            <a:off x="2528653" y="17425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241712016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BCA6A44-FA18-426D-833E-83501922B510}"/>
              </a:ext>
            </a:extLst>
          </p:cNvPr>
          <p:cNvSpPr/>
          <p:nvPr/>
        </p:nvSpPr>
        <p:spPr>
          <a:xfrm>
            <a:off x="411480" y="301752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</a:t>
            </a: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5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B78A127-76A9-2692-BF5B-AABFBACFACFA}"/>
              </a:ext>
            </a:extLst>
          </p:cNvPr>
          <p:cNvSpPr/>
          <p:nvPr/>
        </p:nvSpPr>
        <p:spPr>
          <a:xfrm>
            <a:off x="5318845" y="4257207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F66949B-2451-4CB9-2EC4-94ABF8C34AA8}"/>
              </a:ext>
            </a:extLst>
          </p:cNvPr>
          <p:cNvSpPr/>
          <p:nvPr/>
        </p:nvSpPr>
        <p:spPr>
          <a:xfrm>
            <a:off x="3322488" y="3179316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EC52B23-4F90-32F0-9ACB-17C1706A4455}"/>
              </a:ext>
            </a:extLst>
          </p:cNvPr>
          <p:cNvSpPr/>
          <p:nvPr/>
        </p:nvSpPr>
        <p:spPr>
          <a:xfrm>
            <a:off x="41148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52D2F883-1C80-63D6-3BC4-AE1A15CDE60F}"/>
              </a:ext>
            </a:extLst>
          </p:cNvPr>
          <p:cNvSpPr/>
          <p:nvPr/>
        </p:nvSpPr>
        <p:spPr>
          <a:xfrm>
            <a:off x="411480" y="1671678"/>
            <a:ext cx="2286000" cy="448056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9234F16B-4635-D6AB-2664-530B52FBE6FC}"/>
              </a:ext>
            </a:extLst>
          </p:cNvPr>
          <p:cNvSpPr/>
          <p:nvPr/>
        </p:nvSpPr>
        <p:spPr>
          <a:xfrm>
            <a:off x="502073" y="1722054"/>
            <a:ext cx="21048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2D"/>
                </a:solidFill>
              </a:rPr>
              <a:t>Bernita </a:t>
            </a:r>
            <a:r>
              <a:rPr lang="en-US" sz="1600" b="1" dirty="0" err="1">
                <a:solidFill>
                  <a:srgbClr val="1B3A2D"/>
                </a:solidFill>
              </a:rPr>
              <a:t>Agustien</a:t>
            </a:r>
            <a:r>
              <a:rPr lang="en-US" sz="1600" b="1" dirty="0">
                <a:solidFill>
                  <a:srgbClr val="1B3A2D"/>
                </a:solidFill>
              </a:rPr>
              <a:t> P </a:t>
            </a:r>
            <a:r>
              <a:rPr lang="en-US" sz="1600" b="1" dirty="0" err="1">
                <a:solidFill>
                  <a:srgbClr val="1B3A2D"/>
                </a:solidFill>
              </a:rPr>
              <a:t>Habeahan</a:t>
            </a:r>
            <a:endParaRPr lang="en-US" sz="1600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10044FB9-3572-0267-1D48-5EA93506D89F}"/>
              </a:ext>
            </a:extLst>
          </p:cNvPr>
          <p:cNvSpPr/>
          <p:nvPr/>
        </p:nvSpPr>
        <p:spPr>
          <a:xfrm>
            <a:off x="2528653" y="2691724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5E4F0F45-7D08-BFD1-E463-A310388D5E33}"/>
              </a:ext>
            </a:extLst>
          </p:cNvPr>
          <p:cNvSpPr/>
          <p:nvPr/>
        </p:nvSpPr>
        <p:spPr>
          <a:xfrm>
            <a:off x="2528653" y="268711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241712024</a:t>
            </a:r>
            <a:endParaRPr lang="en-US" sz="1400" dirty="0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43AC4EBD-DB8A-47FC-2FCC-6D7B47CB48FC}"/>
              </a:ext>
            </a:extLst>
          </p:cNvPr>
          <p:cNvSpPr/>
          <p:nvPr/>
        </p:nvSpPr>
        <p:spPr>
          <a:xfrm>
            <a:off x="411480" y="2616244"/>
            <a:ext cx="2286000" cy="448056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43AFE0D1-B816-A2C6-E1E0-1E268DEB28AB}"/>
              </a:ext>
            </a:extLst>
          </p:cNvPr>
          <p:cNvSpPr/>
          <p:nvPr/>
        </p:nvSpPr>
        <p:spPr>
          <a:xfrm>
            <a:off x="502073" y="2674021"/>
            <a:ext cx="21048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1B3A2D"/>
                </a:solidFill>
              </a:rPr>
              <a:t>Adeptri</a:t>
            </a:r>
            <a:r>
              <a:rPr lang="en-US" sz="1600" b="1" dirty="0">
                <a:solidFill>
                  <a:srgbClr val="1B3A2D"/>
                </a:solidFill>
              </a:rPr>
              <a:t> Sagala</a:t>
            </a:r>
            <a:endParaRPr lang="en-US" sz="1600" dirty="0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84DA2AF4-7F80-050B-BE9B-63FAF8161646}"/>
              </a:ext>
            </a:extLst>
          </p:cNvPr>
          <p:cNvSpPr/>
          <p:nvPr/>
        </p:nvSpPr>
        <p:spPr>
          <a:xfrm>
            <a:off x="7074999" y="2766084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4022F5EF-CDB0-89BB-01E7-C1F4046FF734}"/>
              </a:ext>
            </a:extLst>
          </p:cNvPr>
          <p:cNvSpPr/>
          <p:nvPr/>
        </p:nvSpPr>
        <p:spPr>
          <a:xfrm>
            <a:off x="7074999" y="276147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241712026</a:t>
            </a:r>
            <a:endParaRPr lang="en-US" sz="1400" dirty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76C858ED-F2D0-A617-D4EE-8AC3BA9A9403}"/>
              </a:ext>
            </a:extLst>
          </p:cNvPr>
          <p:cNvSpPr/>
          <p:nvPr/>
        </p:nvSpPr>
        <p:spPr>
          <a:xfrm>
            <a:off x="4957826" y="2690604"/>
            <a:ext cx="2286000" cy="448056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7B7C5EF7-0022-4846-33DC-807E890E28A6}"/>
              </a:ext>
            </a:extLst>
          </p:cNvPr>
          <p:cNvSpPr/>
          <p:nvPr/>
        </p:nvSpPr>
        <p:spPr>
          <a:xfrm>
            <a:off x="5048419" y="2747601"/>
            <a:ext cx="21048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2D"/>
                </a:solidFill>
              </a:rPr>
              <a:t>Khalif Al Malik Yales</a:t>
            </a:r>
            <a:endParaRPr lang="en-US" sz="1600" dirty="0"/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DF729F0E-E40B-8C43-52FA-5693E94971DB}"/>
              </a:ext>
            </a:extLst>
          </p:cNvPr>
          <p:cNvSpPr/>
          <p:nvPr/>
        </p:nvSpPr>
        <p:spPr>
          <a:xfrm>
            <a:off x="2528653" y="3808008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2B8095FE-9E65-8AF4-EA2A-288B5FAE5A91}"/>
              </a:ext>
            </a:extLst>
          </p:cNvPr>
          <p:cNvSpPr/>
          <p:nvPr/>
        </p:nvSpPr>
        <p:spPr>
          <a:xfrm>
            <a:off x="2528653" y="380339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241712035</a:t>
            </a:r>
            <a:endParaRPr lang="en-US" sz="1400" dirty="0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216E22B7-9B6B-32AF-8322-A80CCE111831}"/>
              </a:ext>
            </a:extLst>
          </p:cNvPr>
          <p:cNvSpPr/>
          <p:nvPr/>
        </p:nvSpPr>
        <p:spPr>
          <a:xfrm>
            <a:off x="411480" y="3732528"/>
            <a:ext cx="2286000" cy="448056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D44E7C14-2349-9F48-F90B-2AA695BB88CF}"/>
              </a:ext>
            </a:extLst>
          </p:cNvPr>
          <p:cNvSpPr/>
          <p:nvPr/>
        </p:nvSpPr>
        <p:spPr>
          <a:xfrm>
            <a:off x="502073" y="3782820"/>
            <a:ext cx="21048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B3A2D"/>
                </a:solidFill>
              </a:rPr>
              <a:t>Kezia Arneta Patricia </a:t>
            </a:r>
            <a:r>
              <a:rPr lang="en-US" sz="1600" b="1" dirty="0" err="1">
                <a:solidFill>
                  <a:srgbClr val="1B3A2D"/>
                </a:solidFill>
              </a:rPr>
              <a:t>Manurung</a:t>
            </a:r>
            <a:endParaRPr lang="en-US" sz="16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A2B7AD0E-37FC-838A-89E3-832F455CB52C}"/>
              </a:ext>
            </a:extLst>
          </p:cNvPr>
          <p:cNvSpPr/>
          <p:nvPr/>
        </p:nvSpPr>
        <p:spPr>
          <a:xfrm>
            <a:off x="7074999" y="3809333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C0B50112-26F8-D2C5-0986-DE005B36BC69}"/>
              </a:ext>
            </a:extLst>
          </p:cNvPr>
          <p:cNvSpPr/>
          <p:nvPr/>
        </p:nvSpPr>
        <p:spPr>
          <a:xfrm>
            <a:off x="7074999" y="3804719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241712037</a:t>
            </a:r>
            <a:endParaRPr lang="en-US" sz="1400" dirty="0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D9BAA77C-AF4C-5238-947F-0A929D4AF90C}"/>
              </a:ext>
            </a:extLst>
          </p:cNvPr>
          <p:cNvSpPr/>
          <p:nvPr/>
        </p:nvSpPr>
        <p:spPr>
          <a:xfrm>
            <a:off x="4957826" y="3733853"/>
            <a:ext cx="2286000" cy="448056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8D781F87-717C-A623-64D4-76953D7D3F24}"/>
              </a:ext>
            </a:extLst>
          </p:cNvPr>
          <p:cNvSpPr/>
          <p:nvPr/>
        </p:nvSpPr>
        <p:spPr>
          <a:xfrm>
            <a:off x="5048419" y="3785250"/>
            <a:ext cx="21048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2D"/>
                </a:solidFill>
              </a:rPr>
              <a:t>Syaikhah Azzahra Nasir</a:t>
            </a:r>
            <a:endParaRPr lang="en-US" sz="1600" dirty="0"/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7D01E75C-D6E3-83F9-3017-23AF4D6A9710}"/>
              </a:ext>
            </a:extLst>
          </p:cNvPr>
          <p:cNvSpPr/>
          <p:nvPr/>
        </p:nvSpPr>
        <p:spPr>
          <a:xfrm>
            <a:off x="7115554" y="1749519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BE92CE13-35AB-BBDC-9E37-3D20A4863B07}"/>
              </a:ext>
            </a:extLst>
          </p:cNvPr>
          <p:cNvSpPr/>
          <p:nvPr/>
        </p:nvSpPr>
        <p:spPr>
          <a:xfrm>
            <a:off x="7115554" y="17449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241712022</a:t>
            </a:r>
            <a:endParaRPr lang="en-US" sz="1400" dirty="0"/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8B101B06-25C2-B717-7866-17B6FE4837DA}"/>
              </a:ext>
            </a:extLst>
          </p:cNvPr>
          <p:cNvSpPr/>
          <p:nvPr/>
        </p:nvSpPr>
        <p:spPr>
          <a:xfrm>
            <a:off x="4998381" y="1674039"/>
            <a:ext cx="2286000" cy="448056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460D0DE8-3398-E33B-118C-E79D0BB26AF0}"/>
              </a:ext>
            </a:extLst>
          </p:cNvPr>
          <p:cNvSpPr/>
          <p:nvPr/>
        </p:nvSpPr>
        <p:spPr>
          <a:xfrm>
            <a:off x="5088974" y="1733256"/>
            <a:ext cx="21048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rgbClr val="1B3A2D"/>
                </a:solidFill>
              </a:rPr>
              <a:t>Jelita</a:t>
            </a:r>
            <a:r>
              <a:rPr lang="en-US" sz="1600" b="1" dirty="0">
                <a:solidFill>
                  <a:srgbClr val="1B3A2D"/>
                </a:solidFill>
              </a:rPr>
              <a:t> Crisna </a:t>
            </a:r>
            <a:r>
              <a:rPr lang="en-US" sz="1600" b="1" dirty="0" err="1">
                <a:solidFill>
                  <a:srgbClr val="1B3A2D"/>
                </a:solidFill>
              </a:rPr>
              <a:t>Zalukhu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00430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Mengapa Ini Masalah Serius?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82296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49A2A"/>
                </a:solidFill>
              </a:rPr>
              <a:t> 19,8 %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29768" y="233172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D" sz="1200" dirty="0" err="1">
                <a:solidFill>
                  <a:srgbClr val="4A5568"/>
                </a:solidFill>
                <a:latin typeface="Plus Jakarta Sans"/>
              </a:rPr>
              <a:t>Jumlah</a:t>
            </a:r>
            <a:r>
              <a:rPr lang="en-ID" sz="1200" dirty="0">
                <a:solidFill>
                  <a:srgbClr val="4A5568"/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rgbClr val="4A5568"/>
                </a:solidFill>
                <a:latin typeface="Plus Jakarta Sans"/>
              </a:rPr>
              <a:t>kasus</a:t>
            </a:r>
            <a:r>
              <a:rPr lang="en-ID" sz="1200" b="0" i="0" dirty="0">
                <a:solidFill>
                  <a:srgbClr val="4A5568"/>
                </a:solidFill>
                <a:effectLst/>
                <a:latin typeface="Plus Jakarta Sans"/>
              </a:rPr>
              <a:t> stunting </a:t>
            </a:r>
            <a:r>
              <a:rPr lang="en-ID" sz="1200" b="0" i="0" dirty="0" err="1">
                <a:solidFill>
                  <a:srgbClr val="4A5568"/>
                </a:solidFill>
                <a:effectLst/>
                <a:latin typeface="Plus Jakarta Sans"/>
              </a:rPr>
              <a:t>nasional</a:t>
            </a:r>
            <a:r>
              <a:rPr lang="en-ID" sz="1200" b="0" i="0" dirty="0">
                <a:solidFill>
                  <a:srgbClr val="4A5568"/>
                </a:solidFill>
                <a:effectLst/>
                <a:latin typeface="Plus Jakarta Sans"/>
              </a:rPr>
              <a:t> (SSGI </a:t>
            </a:r>
            <a:r>
              <a:rPr lang="en-ID" sz="1200" b="0" i="0" dirty="0" err="1">
                <a:solidFill>
                  <a:srgbClr val="4A5568"/>
                </a:solidFill>
                <a:effectLst/>
                <a:latin typeface="Plus Jakarta Sans"/>
              </a:rPr>
              <a:t>Kemenkes</a:t>
            </a:r>
            <a:r>
              <a:rPr lang="en-ID" sz="1200" b="0" i="0" dirty="0">
                <a:solidFill>
                  <a:srgbClr val="4A5568"/>
                </a:solidFill>
                <a:effectLst/>
                <a:latin typeface="Plus Jakarta Sans"/>
              </a:rPr>
              <a:t>). Masih </a:t>
            </a:r>
            <a:r>
              <a:rPr lang="en-ID" sz="1200" b="0" i="0" dirty="0" err="1">
                <a:solidFill>
                  <a:srgbClr val="4A5568"/>
                </a:solidFill>
                <a:effectLst/>
                <a:latin typeface="Plus Jakarta Sans"/>
              </a:rPr>
              <a:t>mendekati</a:t>
            </a:r>
            <a:r>
              <a:rPr lang="en-ID" sz="1200" b="0" i="0" dirty="0">
                <a:solidFill>
                  <a:srgbClr val="4A5568"/>
                </a:solidFill>
                <a:effectLst/>
                <a:latin typeface="Plus Jakarta Sans"/>
              </a:rPr>
              <a:t> batas </a:t>
            </a:r>
            <a:r>
              <a:rPr lang="en-ID" sz="1200" b="0" i="0" dirty="0" err="1">
                <a:solidFill>
                  <a:srgbClr val="4A5568"/>
                </a:solidFill>
                <a:effectLst/>
                <a:latin typeface="Plus Jakarta Sans"/>
              </a:rPr>
              <a:t>kritis</a:t>
            </a:r>
            <a:r>
              <a:rPr lang="en-ID" sz="1200" b="0" i="0" dirty="0">
                <a:solidFill>
                  <a:srgbClr val="4A5568"/>
                </a:solidFill>
                <a:effectLst/>
                <a:latin typeface="Plus Jakarta Sans"/>
              </a:rPr>
              <a:t> WHO (20%).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64408" y="118872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3264408" y="1188720"/>
            <a:ext cx="2743200" cy="82296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3264408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49A2A"/>
                </a:solidFill>
              </a:rPr>
              <a:t>&lt; 30%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74136" y="233172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</a:rPr>
              <a:t>Orang tua memantau tumbuh </a:t>
            </a:r>
            <a:r>
              <a:rPr lang="en-US" sz="1150" dirty="0" err="1">
                <a:solidFill>
                  <a:srgbClr val="64748B"/>
                </a:solidFill>
              </a:rPr>
              <a:t>kembang</a:t>
            </a:r>
            <a:r>
              <a:rPr lang="en-US" sz="1150" dirty="0">
                <a:solidFill>
                  <a:srgbClr val="64748B"/>
                </a:solidFill>
              </a:rPr>
              <a:t> </a:t>
            </a:r>
            <a:r>
              <a:rPr lang="en-US" sz="1150" dirty="0" err="1">
                <a:solidFill>
                  <a:srgbClr val="64748B"/>
                </a:solidFill>
              </a:rPr>
              <a:t>anak</a:t>
            </a:r>
            <a:r>
              <a:rPr lang="en-US" sz="1150" dirty="0"/>
              <a:t> </a:t>
            </a:r>
            <a:r>
              <a:rPr lang="en-US" sz="1150" dirty="0" err="1">
                <a:solidFill>
                  <a:srgbClr val="64748B"/>
                </a:solidFill>
              </a:rPr>
              <a:t>secara</a:t>
            </a:r>
            <a:r>
              <a:rPr lang="en-US" sz="1150" dirty="0">
                <a:solidFill>
                  <a:srgbClr val="64748B"/>
                </a:solidFill>
              </a:rPr>
              <a:t> rutin &amp; terstruktur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08776" y="118872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Shape 11"/>
          <p:cNvSpPr/>
          <p:nvPr/>
        </p:nvSpPr>
        <p:spPr>
          <a:xfrm>
            <a:off x="6208776" y="1188720"/>
            <a:ext cx="2743200" cy="82296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6208776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922A"/>
                </a:solidFill>
              </a:rPr>
              <a:t> 10–15%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18504" y="233172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</a:rPr>
              <a:t>Anak </a:t>
            </a:r>
            <a:r>
              <a:rPr lang="en-US" sz="1150" dirty="0" err="1">
                <a:solidFill>
                  <a:srgbClr val="64748B"/>
                </a:solidFill>
              </a:rPr>
              <a:t>mengalami</a:t>
            </a:r>
            <a:r>
              <a:rPr lang="en-US" sz="1150" dirty="0">
                <a:solidFill>
                  <a:srgbClr val="64748B"/>
                </a:solidFill>
              </a:rPr>
              <a:t> </a:t>
            </a:r>
            <a:r>
              <a:rPr lang="en-US" sz="1150" dirty="0" err="1">
                <a:solidFill>
                  <a:srgbClr val="64748B"/>
                </a:solidFill>
              </a:rPr>
              <a:t>gangguan</a:t>
            </a:r>
            <a:r>
              <a:rPr lang="en-US" sz="1150" dirty="0">
                <a:solidFill>
                  <a:srgbClr val="64748B"/>
                </a:solidFill>
              </a:rPr>
              <a:t> </a:t>
            </a:r>
            <a:r>
              <a:rPr lang="en-US" sz="1150" dirty="0" err="1">
                <a:solidFill>
                  <a:srgbClr val="64748B"/>
                </a:solidFill>
              </a:rPr>
              <a:t>atau</a:t>
            </a:r>
            <a:r>
              <a:rPr lang="en-US" sz="1150" dirty="0">
                <a:solidFill>
                  <a:srgbClr val="64748B"/>
                </a:solidFill>
              </a:rPr>
              <a:t> </a:t>
            </a:r>
            <a:r>
              <a:rPr lang="en-US" sz="1150" dirty="0" err="1">
                <a:solidFill>
                  <a:srgbClr val="64748B"/>
                </a:solidFill>
              </a:rPr>
              <a:t>keterlambatan</a:t>
            </a:r>
            <a:r>
              <a:rPr lang="en-US" sz="1150" dirty="0">
                <a:solidFill>
                  <a:srgbClr val="64748B"/>
                </a:solidFill>
              </a:rPr>
              <a:t> </a:t>
            </a:r>
            <a:r>
              <a:rPr lang="en-US" sz="1150" dirty="0" err="1">
                <a:solidFill>
                  <a:srgbClr val="64748B"/>
                </a:solidFill>
              </a:rPr>
              <a:t>perkembangan</a:t>
            </a:r>
            <a:r>
              <a:rPr lang="en-US" sz="1150" dirty="0">
                <a:solidFill>
                  <a:srgbClr val="64748B"/>
                </a:solidFill>
              </a:rPr>
              <a:t> (</a:t>
            </a:r>
            <a:r>
              <a:rPr lang="en-US" sz="1150" dirty="0" err="1">
                <a:solidFill>
                  <a:srgbClr val="64748B"/>
                </a:solidFill>
              </a:rPr>
              <a:t>termasuk</a:t>
            </a:r>
            <a:r>
              <a:rPr lang="en-US" sz="1150" dirty="0">
                <a:solidFill>
                  <a:srgbClr val="64748B"/>
                </a:solidFill>
              </a:rPr>
              <a:t> speech delay)  </a:t>
            </a:r>
            <a:r>
              <a:rPr lang="en-US" sz="1150" dirty="0" err="1">
                <a:solidFill>
                  <a:srgbClr val="64748B"/>
                </a:solidFill>
              </a:rPr>
              <a:t>bersumber</a:t>
            </a:r>
            <a:r>
              <a:rPr lang="en-US" sz="1150" dirty="0">
                <a:solidFill>
                  <a:srgbClr val="64748B"/>
                </a:solidFill>
              </a:rPr>
              <a:t> </a:t>
            </a:r>
            <a:r>
              <a:rPr lang="en-US" sz="1150" dirty="0" err="1">
                <a:solidFill>
                  <a:srgbClr val="64748B"/>
                </a:solidFill>
              </a:rPr>
              <a:t>dari</a:t>
            </a:r>
            <a:r>
              <a:rPr lang="en-US" sz="1150" dirty="0">
                <a:solidFill>
                  <a:srgbClr val="64748B"/>
                </a:solidFill>
              </a:rPr>
              <a:t> IDAI.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840480"/>
            <a:ext cx="8503920" cy="1051560"/>
          </a:xfrm>
          <a:prstGeom prst="rect">
            <a:avLst/>
          </a:prstGeom>
          <a:solidFill>
            <a:srgbClr val="EBF5F0"/>
          </a:solidFill>
          <a:ln w="12700">
            <a:solidFill>
              <a:srgbClr val="C49A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0"/>
            <a:ext cx="411480" cy="4114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51560" y="3913632"/>
            <a:ext cx="7635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2D"/>
                </a:solidFill>
              </a:rPr>
              <a:t>Pencatatan di </a:t>
            </a:r>
            <a:r>
              <a:rPr lang="en-US" sz="1200">
                <a:solidFill>
                  <a:srgbClr val="1B3A2D"/>
                </a:solidFill>
              </a:rPr>
              <a:t>Buku Kesehatan Ibu dan Anak (KIA) </a:t>
            </a:r>
            <a:r>
              <a:rPr lang="en-US" sz="1200" dirty="0">
                <a:solidFill>
                  <a:srgbClr val="1B3A2D"/>
                </a:solidFill>
              </a:rPr>
              <a:t>masih manual, rawan hilang, dan tidak bisa dianalisis otomatis — orang tua tidak tahu kapan harus khawatir.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E0B33E-141F-35AF-144B-E1818E223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88B2C72-6A8D-255E-0325-54B87D2BEFDA}"/>
              </a:ext>
            </a:extLst>
          </p:cNvPr>
          <p:cNvSpPr/>
          <p:nvPr/>
        </p:nvSpPr>
        <p:spPr>
          <a:xfrm>
            <a:off x="6460574" y="-1355259"/>
            <a:ext cx="4572000" cy="4572000"/>
          </a:xfrm>
          <a:prstGeom prst="ellipse">
            <a:avLst/>
          </a:prstGeom>
          <a:solidFill>
            <a:srgbClr val="4A7C6F">
              <a:alpha val="18000"/>
            </a:srgbClr>
          </a:solidFill>
          <a:ln w="12700">
            <a:solidFill>
              <a:srgbClr val="4A7C6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0A3EE9E-B7DC-3064-89DF-9DCB03536BD7}"/>
              </a:ext>
            </a:extLst>
          </p:cNvPr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84B59F">
              <a:alpha val="22000"/>
            </a:srgbClr>
          </a:solidFill>
          <a:ln w="12700">
            <a:solidFill>
              <a:srgbClr val="84B59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DB768F4-E474-230F-E7D2-B3A644EE6F9D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597CB53-061C-BEBA-8C55-17D8AF3EF604}"/>
              </a:ext>
            </a:extLst>
          </p:cNvPr>
          <p:cNvSpPr/>
          <p:nvPr/>
        </p:nvSpPr>
        <p:spPr>
          <a:xfrm>
            <a:off x="2528653" y="1747158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79C41FF-7F03-6F24-3AD2-D5FF730D94D9}"/>
              </a:ext>
            </a:extLst>
          </p:cNvPr>
          <p:cNvSpPr/>
          <p:nvPr/>
        </p:nvSpPr>
        <p:spPr>
          <a:xfrm>
            <a:off x="2528653" y="17425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241712016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A34C826-84F3-D05D-76BF-A8BE48606C74}"/>
              </a:ext>
            </a:extLst>
          </p:cNvPr>
          <p:cNvSpPr/>
          <p:nvPr/>
        </p:nvSpPr>
        <p:spPr>
          <a:xfrm>
            <a:off x="411480" y="301752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</a:t>
            </a: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5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892D45C-B61F-5EF8-13F9-6FEC5F3D13F8}"/>
              </a:ext>
            </a:extLst>
          </p:cNvPr>
          <p:cNvSpPr/>
          <p:nvPr/>
        </p:nvSpPr>
        <p:spPr>
          <a:xfrm>
            <a:off x="5318845" y="4257207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EB57D15-1FE6-B88F-85EA-369DE31001AC}"/>
              </a:ext>
            </a:extLst>
          </p:cNvPr>
          <p:cNvSpPr/>
          <p:nvPr/>
        </p:nvSpPr>
        <p:spPr>
          <a:xfrm>
            <a:off x="3322488" y="3179316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61CF4BA-07AD-9BA6-3778-F4B3267C033A}"/>
              </a:ext>
            </a:extLst>
          </p:cNvPr>
          <p:cNvSpPr/>
          <p:nvPr/>
        </p:nvSpPr>
        <p:spPr>
          <a:xfrm>
            <a:off x="41148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7C09BCF4-A078-B83A-043F-CE7FD5E9D702}"/>
              </a:ext>
            </a:extLst>
          </p:cNvPr>
          <p:cNvSpPr/>
          <p:nvPr/>
        </p:nvSpPr>
        <p:spPr>
          <a:xfrm>
            <a:off x="411480" y="1671678"/>
            <a:ext cx="2286000" cy="448056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F8464D45-9788-AD6B-B113-3FC0A22CE7B7}"/>
              </a:ext>
            </a:extLst>
          </p:cNvPr>
          <p:cNvSpPr/>
          <p:nvPr/>
        </p:nvSpPr>
        <p:spPr>
          <a:xfrm>
            <a:off x="502073" y="1722054"/>
            <a:ext cx="21048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2D"/>
                </a:solidFill>
              </a:rPr>
              <a:t>Bernita </a:t>
            </a:r>
            <a:r>
              <a:rPr lang="en-US" sz="1600" b="1" dirty="0" err="1">
                <a:solidFill>
                  <a:srgbClr val="1B3A2D"/>
                </a:solidFill>
              </a:rPr>
              <a:t>Agustien</a:t>
            </a:r>
            <a:r>
              <a:rPr lang="en-US" sz="1600" b="1" dirty="0">
                <a:solidFill>
                  <a:srgbClr val="1B3A2D"/>
                </a:solidFill>
              </a:rPr>
              <a:t> P </a:t>
            </a:r>
            <a:r>
              <a:rPr lang="en-US" sz="1600" b="1" dirty="0" err="1">
                <a:solidFill>
                  <a:srgbClr val="1B3A2D"/>
                </a:solidFill>
              </a:rPr>
              <a:t>Habeahan</a:t>
            </a:r>
            <a:endParaRPr lang="en-US" sz="1600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F4D565FF-17E2-99B0-5311-4EC2A975BDC1}"/>
              </a:ext>
            </a:extLst>
          </p:cNvPr>
          <p:cNvSpPr/>
          <p:nvPr/>
        </p:nvSpPr>
        <p:spPr>
          <a:xfrm>
            <a:off x="2528653" y="2691724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B4B624CE-ECBB-E7CF-FE1F-377A1BB0F6CB}"/>
              </a:ext>
            </a:extLst>
          </p:cNvPr>
          <p:cNvSpPr/>
          <p:nvPr/>
        </p:nvSpPr>
        <p:spPr>
          <a:xfrm>
            <a:off x="2528653" y="268711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241712024</a:t>
            </a:r>
            <a:endParaRPr lang="en-US" sz="1400" dirty="0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27CAF115-36AB-FCED-045C-73F4E70C9A52}"/>
              </a:ext>
            </a:extLst>
          </p:cNvPr>
          <p:cNvSpPr/>
          <p:nvPr/>
        </p:nvSpPr>
        <p:spPr>
          <a:xfrm>
            <a:off x="411480" y="2616244"/>
            <a:ext cx="2286000" cy="448056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31836E55-8F76-186A-9EE0-E46745595771}"/>
              </a:ext>
            </a:extLst>
          </p:cNvPr>
          <p:cNvSpPr/>
          <p:nvPr/>
        </p:nvSpPr>
        <p:spPr>
          <a:xfrm>
            <a:off x="502073" y="2674021"/>
            <a:ext cx="21048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1B3A2D"/>
                </a:solidFill>
              </a:rPr>
              <a:t>Adeptri</a:t>
            </a:r>
            <a:r>
              <a:rPr lang="en-US" sz="1600" b="1" dirty="0">
                <a:solidFill>
                  <a:srgbClr val="1B3A2D"/>
                </a:solidFill>
              </a:rPr>
              <a:t> Sagala</a:t>
            </a:r>
            <a:endParaRPr lang="en-US" sz="1600" dirty="0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9D1E744B-E0F1-8F46-8C42-E23CB8DC9CBA}"/>
              </a:ext>
            </a:extLst>
          </p:cNvPr>
          <p:cNvSpPr/>
          <p:nvPr/>
        </p:nvSpPr>
        <p:spPr>
          <a:xfrm>
            <a:off x="7074999" y="2766084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3A2A4789-ABD1-A4A0-4CA7-2AB2C66A20E1}"/>
              </a:ext>
            </a:extLst>
          </p:cNvPr>
          <p:cNvSpPr/>
          <p:nvPr/>
        </p:nvSpPr>
        <p:spPr>
          <a:xfrm>
            <a:off x="7074999" y="276147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241712026</a:t>
            </a:r>
            <a:endParaRPr lang="en-US" sz="1400" dirty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9A72D3C8-1E12-828F-EAA1-4C80D2A9BC70}"/>
              </a:ext>
            </a:extLst>
          </p:cNvPr>
          <p:cNvSpPr/>
          <p:nvPr/>
        </p:nvSpPr>
        <p:spPr>
          <a:xfrm>
            <a:off x="4957826" y="2690604"/>
            <a:ext cx="2286000" cy="448056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432C91B7-988D-FE5E-FF3A-74744CD3424C}"/>
              </a:ext>
            </a:extLst>
          </p:cNvPr>
          <p:cNvSpPr/>
          <p:nvPr/>
        </p:nvSpPr>
        <p:spPr>
          <a:xfrm>
            <a:off x="5048419" y="2747601"/>
            <a:ext cx="21048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2D"/>
                </a:solidFill>
              </a:rPr>
              <a:t>Khalif Al Malik Yales</a:t>
            </a:r>
            <a:endParaRPr lang="en-US" sz="1600" dirty="0"/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D8EBFB18-EC3F-95C4-417E-9F2AFE8E8733}"/>
              </a:ext>
            </a:extLst>
          </p:cNvPr>
          <p:cNvSpPr/>
          <p:nvPr/>
        </p:nvSpPr>
        <p:spPr>
          <a:xfrm>
            <a:off x="2528653" y="3808008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132848E5-6407-08B2-CE72-C020BA0EC36B}"/>
              </a:ext>
            </a:extLst>
          </p:cNvPr>
          <p:cNvSpPr/>
          <p:nvPr/>
        </p:nvSpPr>
        <p:spPr>
          <a:xfrm>
            <a:off x="2528653" y="380339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241712035</a:t>
            </a:r>
            <a:endParaRPr lang="en-US" sz="1400" dirty="0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FF4C0F8A-AA99-2B3F-DA8D-9EBB3A43BF73}"/>
              </a:ext>
            </a:extLst>
          </p:cNvPr>
          <p:cNvSpPr/>
          <p:nvPr/>
        </p:nvSpPr>
        <p:spPr>
          <a:xfrm>
            <a:off x="411480" y="3732528"/>
            <a:ext cx="2286000" cy="448056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E72D9F05-17EF-5F95-5692-43E4313E1A0B}"/>
              </a:ext>
            </a:extLst>
          </p:cNvPr>
          <p:cNvSpPr/>
          <p:nvPr/>
        </p:nvSpPr>
        <p:spPr>
          <a:xfrm>
            <a:off x="502073" y="3782820"/>
            <a:ext cx="21048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B3A2D"/>
                </a:solidFill>
              </a:rPr>
              <a:t>Kezia Arneta Patricia </a:t>
            </a:r>
            <a:r>
              <a:rPr lang="en-US" sz="1600" b="1" dirty="0" err="1">
                <a:solidFill>
                  <a:srgbClr val="1B3A2D"/>
                </a:solidFill>
              </a:rPr>
              <a:t>Manurung</a:t>
            </a:r>
            <a:endParaRPr lang="en-US" sz="16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DC76C6F8-462F-5C69-9C17-B747DA49880E}"/>
              </a:ext>
            </a:extLst>
          </p:cNvPr>
          <p:cNvSpPr/>
          <p:nvPr/>
        </p:nvSpPr>
        <p:spPr>
          <a:xfrm>
            <a:off x="7074999" y="3809333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ACA28490-95B2-1272-099C-1D0E96A6343E}"/>
              </a:ext>
            </a:extLst>
          </p:cNvPr>
          <p:cNvSpPr/>
          <p:nvPr/>
        </p:nvSpPr>
        <p:spPr>
          <a:xfrm>
            <a:off x="7074999" y="3804719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241712037</a:t>
            </a:r>
            <a:endParaRPr lang="en-US" sz="1400" dirty="0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3EE3C7E8-C371-83E2-553C-259E0198B021}"/>
              </a:ext>
            </a:extLst>
          </p:cNvPr>
          <p:cNvSpPr/>
          <p:nvPr/>
        </p:nvSpPr>
        <p:spPr>
          <a:xfrm>
            <a:off x="4957826" y="3733853"/>
            <a:ext cx="2286000" cy="448056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EE7C6FC5-F465-6012-1769-998244582866}"/>
              </a:ext>
            </a:extLst>
          </p:cNvPr>
          <p:cNvSpPr/>
          <p:nvPr/>
        </p:nvSpPr>
        <p:spPr>
          <a:xfrm>
            <a:off x="5048419" y="3785250"/>
            <a:ext cx="21048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2D"/>
                </a:solidFill>
              </a:rPr>
              <a:t>Syaikhah Azzahra Nasir</a:t>
            </a:r>
            <a:endParaRPr lang="en-US" sz="1600" dirty="0"/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F3E34C30-2ED0-C104-13C1-3D83CC9F28FA}"/>
              </a:ext>
            </a:extLst>
          </p:cNvPr>
          <p:cNvSpPr/>
          <p:nvPr/>
        </p:nvSpPr>
        <p:spPr>
          <a:xfrm>
            <a:off x="7115554" y="1749519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A15A8CF4-F161-2FC3-79C3-D3314D79662A}"/>
              </a:ext>
            </a:extLst>
          </p:cNvPr>
          <p:cNvSpPr/>
          <p:nvPr/>
        </p:nvSpPr>
        <p:spPr>
          <a:xfrm>
            <a:off x="7115554" y="17449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241712022</a:t>
            </a:r>
            <a:endParaRPr lang="en-US" sz="1400" dirty="0"/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E14BF469-F6C4-805E-5B73-F9E7C1AC6C91}"/>
              </a:ext>
            </a:extLst>
          </p:cNvPr>
          <p:cNvSpPr/>
          <p:nvPr/>
        </p:nvSpPr>
        <p:spPr>
          <a:xfrm>
            <a:off x="4998381" y="1674039"/>
            <a:ext cx="2286000" cy="448056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71AEA144-39DC-3F67-BB6F-B5D328645A76}"/>
              </a:ext>
            </a:extLst>
          </p:cNvPr>
          <p:cNvSpPr/>
          <p:nvPr/>
        </p:nvSpPr>
        <p:spPr>
          <a:xfrm>
            <a:off x="5088974" y="1733256"/>
            <a:ext cx="21048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rgbClr val="1B3A2D"/>
                </a:solidFill>
              </a:rPr>
              <a:t>Jelita</a:t>
            </a:r>
            <a:r>
              <a:rPr lang="en-US" sz="1600" b="1" dirty="0">
                <a:solidFill>
                  <a:srgbClr val="1B3A2D"/>
                </a:solidFill>
              </a:rPr>
              <a:t> Crisna </a:t>
            </a:r>
            <a:r>
              <a:rPr lang="en-US" sz="1600" b="1" dirty="0" err="1">
                <a:solidFill>
                  <a:srgbClr val="1B3A2D"/>
                </a:solidFill>
              </a:rPr>
              <a:t>Zalukhu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2D94C6-02B5-4062-7BB8-38F56EFAF91B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ln w="0">
            <a:noFill/>
          </a:ln>
        </p:spPr>
      </p:pic>
      <p:pic>
        <p:nvPicPr>
          <p:cNvPr id="11" name="Picture 10" descr="Happy baby and toddler playing together">
            <a:extLst>
              <a:ext uri="{FF2B5EF4-FFF2-40B4-BE49-F238E27FC236}">
                <a16:creationId xmlns:a16="http://schemas.microsoft.com/office/drawing/2014/main" id="{E4B1E08E-651A-F1D3-9BD8-109FE74F4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35425" y="5434012"/>
            <a:ext cx="13955320" cy="782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5A8C6E"/>
          </a:solidFill>
          <a:ln w="12700">
            <a:solidFill>
              <a:srgbClr val="5A8C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320040" y="164592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A8C6E"/>
                </a:solidFill>
              </a:rPr>
              <a:t>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SDG 3 — Good Health &amp; Well-Being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92608" y="1234440"/>
            <a:ext cx="8503920" cy="804672"/>
          </a:xfrm>
          <a:prstGeom prst="rect">
            <a:avLst/>
          </a:prstGeom>
          <a:solidFill>
            <a:srgbClr val="EBF5F0"/>
          </a:solidFill>
          <a:ln w="12700">
            <a:solidFill>
              <a:srgbClr val="5A8C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429768" y="126187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50" dirty="0">
                <a:solidFill>
                  <a:srgbClr val="1B3A2D"/>
                </a:solidFill>
              </a:rPr>
              <a:t>Memastikan kehidupan yang sehat dan mendorong kesejahteraan bagi semua orang di segala usia — termasuk menurunkan angka kematian bayi, balita, dan mencegah penyakit yang bisa dicegah seperti stunting dan gizi buruk.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21762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</a:rPr>
              <a:t>Target SDG 3 yang Relevan dengan SmarthGrowth: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" y="2633472"/>
            <a:ext cx="2770632" cy="2304288"/>
          </a:xfrm>
          <a:prstGeom prst="rect">
            <a:avLst/>
          </a:prstGeom>
          <a:solidFill>
            <a:srgbClr val="F8FAFC"/>
          </a:solidFill>
          <a:ln w="19050">
            <a:solidFill>
              <a:srgbClr val="D6EDE5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292608" y="2633472"/>
            <a:ext cx="2770632" cy="64008"/>
          </a:xfrm>
          <a:prstGeom prst="rect">
            <a:avLst/>
          </a:prstGeom>
          <a:solidFill>
            <a:srgbClr val="5A8C6E"/>
          </a:solidFill>
          <a:ln w="12700">
            <a:solidFill>
              <a:srgbClr val="5A8C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402336" y="2761488"/>
            <a:ext cx="411480" cy="411480"/>
          </a:xfrm>
          <a:prstGeom prst="ellipse">
            <a:avLst/>
          </a:prstGeom>
          <a:solidFill>
            <a:srgbClr val="5A8C6E"/>
          </a:solidFill>
          <a:ln w="12700">
            <a:solidFill>
              <a:srgbClr val="5A8C6E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12" name="Text 10"/>
          <p:cNvSpPr/>
          <p:nvPr/>
        </p:nvSpPr>
        <p:spPr>
          <a:xfrm>
            <a:off x="402336" y="2761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3.1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86968" y="271576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</a:rPr>
              <a:t>Cegah Kematian Bayi &amp; Balita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3246120"/>
            <a:ext cx="347472" cy="34747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02336" y="3639312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64748B"/>
                </a:solidFill>
              </a:rPr>
              <a:t>Mengakhiri kematian bayi dan balita yang dapat dicegah. Semua negara harus menurunkan angka kematian neonatal dan balita — termasuk melalui pemantauan tumbuh </a:t>
            </a:r>
            <a:r>
              <a:rPr lang="en-US" sz="950">
                <a:solidFill>
                  <a:srgbClr val="64748B"/>
                </a:solidFill>
              </a:rPr>
              <a:t>kembang aktif anak usia dini.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00400" y="2633472"/>
            <a:ext cx="2770632" cy="2304288"/>
          </a:xfrm>
          <a:prstGeom prst="rect">
            <a:avLst/>
          </a:prstGeom>
          <a:solidFill>
            <a:srgbClr val="F8FAFC"/>
          </a:solidFill>
          <a:ln w="19050">
            <a:solidFill>
              <a:srgbClr val="D6EDE5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4"/>
          <p:cNvSpPr/>
          <p:nvPr/>
        </p:nvSpPr>
        <p:spPr>
          <a:xfrm>
            <a:off x="3200400" y="2633472"/>
            <a:ext cx="2770632" cy="64008"/>
          </a:xfrm>
          <a:prstGeom prst="rect">
            <a:avLst/>
          </a:prstGeom>
          <a:solidFill>
            <a:srgbClr val="5A8C6E"/>
          </a:solidFill>
          <a:ln w="12700">
            <a:solidFill>
              <a:srgbClr val="5A8C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Shape 15"/>
          <p:cNvSpPr/>
          <p:nvPr/>
        </p:nvSpPr>
        <p:spPr>
          <a:xfrm>
            <a:off x="3310128" y="2761488"/>
            <a:ext cx="411480" cy="411480"/>
          </a:xfrm>
          <a:prstGeom prst="ellipse">
            <a:avLst/>
          </a:prstGeom>
          <a:solidFill>
            <a:srgbClr val="5A8C6E"/>
          </a:solidFill>
          <a:ln w="12700">
            <a:solidFill>
              <a:srgbClr val="5A8C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6"/>
          <p:cNvSpPr/>
          <p:nvPr/>
        </p:nvSpPr>
        <p:spPr>
          <a:xfrm>
            <a:off x="3310128" y="2761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3.2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794760" y="271576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</a:rPr>
              <a:t>Kurangi Penyakit Tidak Menular</a:t>
            </a:r>
            <a:endParaRPr lang="en-US" sz="11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3246120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310128" y="3639312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64748B"/>
                </a:solidFill>
              </a:rPr>
              <a:t>Mengurangi sepertiganya angka kematian dini akibat penyakit tidak menular, termasuk gangguan gizi kronis seperti stunting yang berdampak pada perkembangan kognitif anak seumur hidup.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108192" y="2633472"/>
            <a:ext cx="2770632" cy="2304288"/>
          </a:xfrm>
          <a:prstGeom prst="rect">
            <a:avLst/>
          </a:prstGeom>
          <a:solidFill>
            <a:srgbClr val="F8FAFC"/>
          </a:solidFill>
          <a:ln w="19050">
            <a:solidFill>
              <a:srgbClr val="D6EDE5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4" name="Shape 20"/>
          <p:cNvSpPr/>
          <p:nvPr/>
        </p:nvSpPr>
        <p:spPr>
          <a:xfrm>
            <a:off x="6108192" y="2633472"/>
            <a:ext cx="2770632" cy="64008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Shape 21"/>
          <p:cNvSpPr/>
          <p:nvPr/>
        </p:nvSpPr>
        <p:spPr>
          <a:xfrm>
            <a:off x="6217920" y="2761488"/>
            <a:ext cx="411480" cy="411480"/>
          </a:xfrm>
          <a:prstGeom prst="ellipse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26" name="Text 22"/>
          <p:cNvSpPr/>
          <p:nvPr/>
        </p:nvSpPr>
        <p:spPr>
          <a:xfrm>
            <a:off x="6217920" y="2761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3.3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702552" y="271576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</a:rPr>
              <a:t>Cakupan Kesehatan Universal</a:t>
            </a:r>
            <a:endParaRPr lang="en-US" sz="11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246120"/>
            <a:ext cx="347472" cy="34747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217920" y="3639312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64748B"/>
                </a:solidFill>
              </a:rPr>
              <a:t>Mencapai cakupan kesehatan universal — termasuk akses ke layanan kesehatan dasar yang terjangkau. SmarthGrowth menjadi jembatan digital ke sistem kesehatan untuk orang tua di daerah.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320040" y="164592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49A2A"/>
                </a:solidFill>
              </a:rPr>
              <a:t>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SDG 4 — Quality Education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804672"/>
          </a:xfrm>
          <a:prstGeom prst="rect">
            <a:avLst/>
          </a:prstGeom>
          <a:solidFill>
            <a:srgbClr val="EBF5F0"/>
          </a:solidFill>
          <a:ln w="12700">
            <a:solidFill>
              <a:srgbClr val="C49A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466344" y="126187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50" dirty="0">
                <a:solidFill>
                  <a:srgbClr val="1B3A2D"/>
                </a:solidFill>
              </a:rPr>
              <a:t>Memastikan pendidikan yang inklusif dan berkualitas serta mendorong kesempatan belajar seumur hidup bagi semua orang — termasuk pendidikan dan pengasuhan anak usia dini (PAUD) yang berkualitas.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21762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</a:rPr>
              <a:t>Target SDG 4 yang Relevan dengan SmarthGrowth: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" y="2633472"/>
            <a:ext cx="2770632" cy="2304288"/>
          </a:xfrm>
          <a:prstGeom prst="rect">
            <a:avLst/>
          </a:prstGeom>
          <a:solidFill>
            <a:srgbClr val="F8FAFC"/>
          </a:solidFill>
          <a:ln w="19050">
            <a:solidFill>
              <a:srgbClr val="EBF5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292608" y="2633472"/>
            <a:ext cx="2770632" cy="64008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402336" y="2761488"/>
            <a:ext cx="411480" cy="411480"/>
          </a:xfrm>
          <a:prstGeom prst="ellipse">
            <a:avLst/>
          </a:prstGeom>
          <a:solidFill>
            <a:srgbClr val="C49A2A"/>
          </a:solidFill>
          <a:ln w="12700">
            <a:solidFill>
              <a:srgbClr val="C49A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02336" y="2761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4.2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86968" y="271576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</a:rPr>
              <a:t>Pendidikan Anak Usia Dini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3246120"/>
            <a:ext cx="347472" cy="34747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02336" y="3639312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950">
                <a:solidFill>
                  <a:srgbClr val="64748B"/>
                </a:solidFill>
              </a:rPr>
              <a:t>Memastikan semua anak memiliki akses ke pengembangan, perawatan, dan pendidikan anak usia dini yang berkualitas. SmartGrowth hadir memberikan stimulasi dini terstruktur untuk usia 0-8 tahun sebagai fondasi perkembangan otak anak. 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00400" y="2633472"/>
            <a:ext cx="2770632" cy="2304288"/>
          </a:xfrm>
          <a:prstGeom prst="rect">
            <a:avLst/>
          </a:prstGeom>
          <a:solidFill>
            <a:srgbClr val="F8FAFC"/>
          </a:solidFill>
          <a:ln w="19050">
            <a:solidFill>
              <a:srgbClr val="EBF5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4"/>
          <p:cNvSpPr/>
          <p:nvPr/>
        </p:nvSpPr>
        <p:spPr>
          <a:xfrm>
            <a:off x="3200400" y="2633472"/>
            <a:ext cx="2770632" cy="6400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Shape 15"/>
          <p:cNvSpPr/>
          <p:nvPr/>
        </p:nvSpPr>
        <p:spPr>
          <a:xfrm>
            <a:off x="3310128" y="2761488"/>
            <a:ext cx="411480" cy="411480"/>
          </a:xfrm>
          <a:prstGeom prst="ellipse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6"/>
          <p:cNvSpPr/>
          <p:nvPr/>
        </p:nvSpPr>
        <p:spPr>
          <a:xfrm>
            <a:off x="3310128" y="2761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4.5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794760" y="271576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</a:rPr>
              <a:t>Kesetaraan Akses Edukasi</a:t>
            </a:r>
            <a:endParaRPr lang="en-US" sz="11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3246120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310128" y="3639312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950">
                <a:solidFill>
                  <a:srgbClr val="64748B"/>
                </a:solidFill>
              </a:rPr>
              <a:t>Menghapus ketimpangan akses pendidikan. Di Tengah keterbatasan akses orang tua terhadap konsultan tumbuh kembang, SmartGrowth hadir menyediakan edukasi berkualitas secara gratis langsung di genggaman. 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108192" y="2633472"/>
            <a:ext cx="2770632" cy="2304288"/>
          </a:xfrm>
          <a:prstGeom prst="rect">
            <a:avLst/>
          </a:prstGeom>
          <a:solidFill>
            <a:srgbClr val="F8FAFC"/>
          </a:solidFill>
          <a:ln w="19050">
            <a:solidFill>
              <a:srgbClr val="EBF5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4" name="Shape 20"/>
          <p:cNvSpPr/>
          <p:nvPr/>
        </p:nvSpPr>
        <p:spPr>
          <a:xfrm>
            <a:off x="6108192" y="2633472"/>
            <a:ext cx="2770632" cy="6400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Shape 21"/>
          <p:cNvSpPr/>
          <p:nvPr/>
        </p:nvSpPr>
        <p:spPr>
          <a:xfrm>
            <a:off x="6217920" y="2761488"/>
            <a:ext cx="411480" cy="411480"/>
          </a:xfrm>
          <a:prstGeom prst="ellipse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2"/>
          <p:cNvSpPr/>
          <p:nvPr/>
        </p:nvSpPr>
        <p:spPr>
          <a:xfrm>
            <a:off x="6217920" y="2761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4.7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702552" y="271576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</a:rPr>
              <a:t>Edukasi untuk Pembangunan</a:t>
            </a:r>
            <a:endParaRPr lang="en-US" sz="11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246120"/>
            <a:ext cx="347472" cy="34747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217920" y="3639312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>
                <a:solidFill>
                  <a:srgbClr val="64748B"/>
                </a:solidFill>
              </a:rPr>
              <a:t>Memastikan semua orang mendapatkan pengetahuan dan keterampilan untuk mendukung Pembangunan berkelanjutan, termasuk melalui peningkatan literasi Kesehatan serta pengasuhan (parenting) yang tepat bagi orang tua.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371600"/>
            <a:ext cx="5486400" cy="5486400"/>
          </a:xfrm>
          <a:prstGeom prst="ellipse">
            <a:avLst/>
          </a:prstGeom>
          <a:solidFill>
            <a:srgbClr val="4A7C6F">
              <a:alpha val="12000"/>
            </a:srgbClr>
          </a:solidFill>
          <a:ln w="12700">
            <a:solidFill>
              <a:srgbClr val="4A7C6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Bagaimana SmarthGrowth Mewujudkan SDGs?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0" y="1325880"/>
            <a:ext cx="2194560" cy="2194560"/>
          </a:xfrm>
          <a:prstGeom prst="ellipse">
            <a:avLst/>
          </a:prstGeom>
          <a:solidFill>
            <a:srgbClr val="4A7C6F"/>
          </a:solidFill>
          <a:ln w="254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3474720" y="13258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Smarh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Growth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1737360" cy="1737360"/>
          </a:xfrm>
          <a:prstGeom prst="ellipse">
            <a:avLst/>
          </a:prstGeom>
          <a:solidFill>
            <a:srgbClr val="5A8C6E"/>
          </a:solidFill>
          <a:ln w="12700">
            <a:solidFill>
              <a:srgbClr val="5A8C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SDG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057400" y="2276856"/>
            <a:ext cx="1417320" cy="45720"/>
          </a:xfrm>
          <a:prstGeom prst="rect">
            <a:avLst/>
          </a:prstGeom>
          <a:solidFill>
            <a:srgbClr val="5A8C6E"/>
          </a:solidFill>
          <a:ln w="12700">
            <a:solidFill>
              <a:srgbClr val="5A8C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7132320" y="1463040"/>
            <a:ext cx="1737360" cy="1737360"/>
          </a:xfrm>
          <a:prstGeom prst="ellipse">
            <a:avLst/>
          </a:prstGeom>
          <a:solidFill>
            <a:srgbClr val="C49A2A"/>
          </a:solidFill>
          <a:ln w="12700">
            <a:solidFill>
              <a:srgbClr val="C49A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7132320" y="14630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SDG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0" y="2276856"/>
            <a:ext cx="1463040" cy="45720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10"/>
          <p:cNvSpPr/>
          <p:nvPr/>
        </p:nvSpPr>
        <p:spPr>
          <a:xfrm>
            <a:off x="274320" y="3383280"/>
            <a:ext cx="32004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A8C6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384048" y="3429000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4B59F"/>
                </a:solidFill>
              </a:rPr>
              <a:t>Kontribusi ke SDG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3794760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✔ Deteksi risiko stunting dini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✔ Pantau BB &amp; TB </a:t>
            </a:r>
            <a:r>
              <a:rPr lang="en-US" sz="1000">
                <a:solidFill>
                  <a:srgbClr val="CBD5E1"/>
                </a:solidFill>
              </a:rPr>
              <a:t>standar WHO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3383280"/>
            <a:ext cx="32004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49A2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5779008" y="3429000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</a:rPr>
              <a:t>Kontribusi ke SDG 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79008" y="3794760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BD5E1"/>
                </a:solidFill>
              </a:rPr>
              <a:t>✔ </a:t>
            </a:r>
            <a:r>
              <a:rPr lang="en-US" sz="1000" dirty="0">
                <a:solidFill>
                  <a:srgbClr val="CBD5E1"/>
                </a:solidFill>
              </a:rPr>
              <a:t>Rekomendasi aktivitas otomatis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✔ Saran gizi </a:t>
            </a:r>
            <a:r>
              <a:rPr lang="en-US" sz="1000">
                <a:solidFill>
                  <a:srgbClr val="CBD5E1"/>
                </a:solidFill>
              </a:rPr>
              <a:t>berbasis bukti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</a:rPr>
              <a:t>Satu aplikasi, dua </a:t>
            </a:r>
            <a:r>
              <a:rPr lang="en-US" sz="950" i="1" dirty="0" err="1">
                <a:solidFill>
                  <a:srgbClr val="94A3B8"/>
                </a:solidFill>
              </a:rPr>
              <a:t>tujuan</a:t>
            </a:r>
            <a:r>
              <a:rPr lang="en-US" sz="950" i="1" dirty="0">
                <a:solidFill>
                  <a:srgbClr val="94A3B8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US" sz="950" i="1" dirty="0" err="1">
                <a:solidFill>
                  <a:srgbClr val="94A3B8"/>
                </a:solidFill>
              </a:rPr>
              <a:t>pembangunan</a:t>
            </a:r>
            <a:r>
              <a:rPr lang="en-US" sz="950" i="1" dirty="0">
                <a:solidFill>
                  <a:srgbClr val="94A3B8"/>
                </a:solidFill>
              </a:rPr>
              <a:t> global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Hubungan SmarthGrowth dengan SDG 3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3931920" cy="3611880"/>
          </a:xfrm>
          <a:prstGeom prst="rect">
            <a:avLst/>
          </a:prstGeom>
          <a:solidFill>
            <a:srgbClr val="EBF5F0"/>
          </a:solidFill>
          <a:ln w="19050">
            <a:solidFill>
              <a:srgbClr val="4A7C6F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1417320" y="1371600"/>
            <a:ext cx="1737360" cy="173736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1417320" y="1371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3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11480" y="32004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7C6F"/>
                </a:solidFill>
              </a:rPr>
              <a:t>Good Health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4A7C6F"/>
                </a:solidFill>
              </a:rPr>
              <a:t>&amp; Well-Being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Target 3.2: Mengakhiri kematian bayi dan balita yang dapat dicegah — termasuk pencegahan stunting dan gizi buruk.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2423160"/>
            <a:ext cx="457200" cy="54864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4251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4B59F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892040" y="1188720"/>
            <a:ext cx="393192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84B59F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983480" y="1280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2D"/>
                </a:solidFill>
              </a:rPr>
              <a:t>Peran SmarthGrowth</a:t>
            </a:r>
            <a:endParaRPr lang="en-US" sz="14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901952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532120" y="18105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</a:rPr>
              <a:t>Deteksi Dini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32120" y="2157984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Checklist milestone </a:t>
            </a:r>
            <a:r>
              <a:rPr lang="en-US" sz="1000">
                <a:solidFill>
                  <a:srgbClr val="64748B"/>
                </a:solidFill>
              </a:rPr>
              <a:t>KPSP otomatis yang membantu orang tua mendeteksi potensi Risiko keterlambatan perkembangan anak secara mandiri secara teratur.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862072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32120" y="27706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</a:rPr>
              <a:t>Pantau Gizi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532120" y="3118104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Grafik pemantauan berat dan tinggi badan real-time yang membandingkan langsung kondisi fisik anak berdasarkan standar baku organisasi Kesehatan dunia (WHO).</a:t>
            </a:r>
            <a:endParaRPr lang="en-US" sz="1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82219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532120" y="37307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3A2D"/>
                </a:solidFill>
              </a:rPr>
              <a:t>Edukasi Preventif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532120" y="4078224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Penyediaan modul edukasi komprehensi untuk mendukung Tindakan preventif kesehatan mandiri serta panduan imunisasi anak dari rumah.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B8922A">
              <a:alpha val="15000"/>
            </a:srgbClr>
          </a:solidFill>
          <a:ln w="12700">
            <a:solidFill>
              <a:srgbClr val="B8922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84B59F">
              <a:alpha val="20000"/>
            </a:srgbClr>
          </a:solidFill>
          <a:ln w="12700">
            <a:solidFill>
              <a:srgbClr val="84B59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1371600" cy="365760"/>
          </a:xfrm>
          <a:prstGeom prst="roundRect">
            <a:avLst>
              <a:gd name="adj" fmla="val 47500"/>
            </a:avLst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SDG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Edukasi Orang Tua = Investasi Terbaik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SmarthGrowth menyediakan konten edukatif berbasis bukti (evidence-based)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agar orang tua bisa menstimulasi anak dengan cara yang tepat.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4069080" cy="117043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73152" cy="1170432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61488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24871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Artikel per Usia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805684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</a:rPr>
              <a:t>Panduan stimulasi motorik, kognitif, dan sosial yang disesuaikan secara spesifik berdasarkan kelompok usia anak dari 0 hingga 8 tahun.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09160" y="2377440"/>
            <a:ext cx="4069080" cy="117043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Shape 11"/>
          <p:cNvSpPr/>
          <p:nvPr/>
        </p:nvSpPr>
        <p:spPr>
          <a:xfrm>
            <a:off x="4709160" y="2377440"/>
            <a:ext cx="73152" cy="117043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761488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94960" y="24871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Rekomendasi Otomatis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394960" y="271576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Saran kegiatan bermain &amp; nutrisi berdasarkan hasil checklist anak.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65760" y="3703320"/>
            <a:ext cx="4069080" cy="117043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5"/>
          <p:cNvSpPr/>
          <p:nvPr/>
        </p:nvSpPr>
        <p:spPr>
          <a:xfrm>
            <a:off x="365760" y="3703320"/>
            <a:ext cx="73152" cy="117043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87368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38130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</a:rPr>
              <a:t>Edukasi Preventif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051560" y="420166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>
                <a:solidFill>
                  <a:srgbClr val="94A3B8"/>
                </a:solidFill>
              </a:rPr>
              <a:t>Penyediaan modul edukasi mengenai pembiasaan pola edukasi mengenai pembiasaan pola hidup bersih dan sehat (PHBS) serta Tindakan preventif untuk menjaga Kesehatan anak di lingkungan rumah. 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09160" y="3703320"/>
            <a:ext cx="4069080" cy="117043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Shape 19"/>
          <p:cNvSpPr/>
          <p:nvPr/>
        </p:nvSpPr>
        <p:spPr>
          <a:xfrm>
            <a:off x="4709160" y="3703320"/>
            <a:ext cx="73152" cy="11704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4087368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94960" y="38130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</a:rPr>
              <a:t>Edukasi Hubungan Interpersonal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394960" y="412089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>
                <a:solidFill>
                  <a:srgbClr val="94A3B8"/>
                </a:solidFill>
              </a:rPr>
              <a:t>Modul panduan praktis bagi orang tua untuk membangun komunikasi aktif dengan anak, seperti metode mengajak anak ngobrol dan merespons ekspresi anak</a:t>
            </a:r>
            <a:r>
              <a:rPr lang="en-ID" sz="1050"/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Fitur Lengkap Aplikasi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92608" y="118872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292608" y="1188720"/>
            <a:ext cx="2743200" cy="64008"/>
          </a:xfrm>
          <a:prstGeom prst="rect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35331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12984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2D"/>
                </a:solidFill>
              </a:rPr>
              <a:t>Profil Anak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02336" y="1783080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Input data dasar </a:t>
            </a:r>
            <a:r>
              <a:rPr lang="en-US" sz="1000" dirty="0">
                <a:solidFill>
                  <a:srgbClr val="64748B"/>
                </a:solidFill>
              </a:rPr>
              <a:t>anak (nama, tgl lahir, BB, TB). Sistem hitung usia otomatis dalam bulan.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18872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Shape 7"/>
          <p:cNvSpPr/>
          <p:nvPr/>
        </p:nvSpPr>
        <p:spPr>
          <a:xfrm>
            <a:off x="3200400" y="1188720"/>
            <a:ext cx="2743200" cy="64008"/>
          </a:xfrm>
          <a:prstGeom prst="rect">
            <a:avLst/>
          </a:prstGeom>
          <a:solidFill>
            <a:srgbClr val="5A8C6E"/>
          </a:solidFill>
          <a:ln w="12700">
            <a:solidFill>
              <a:srgbClr val="5A8C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35331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58768" y="12984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2D"/>
                </a:solidFill>
              </a:rPr>
              <a:t>Checklist Pintar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310128" y="1783080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Milestone per usia (6, 9, 12, 18, 24 bln): motorik, bahasa, sosial, kognitif.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08192" y="118872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1"/>
          <p:cNvSpPr/>
          <p:nvPr/>
        </p:nvSpPr>
        <p:spPr>
          <a:xfrm>
            <a:off x="6108192" y="1188720"/>
            <a:ext cx="2743200" cy="64008"/>
          </a:xfrm>
          <a:prstGeom prst="rect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35331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2984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2D"/>
                </a:solidFill>
              </a:rPr>
              <a:t>Grafik Pertumbuhan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17920" y="1783080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Visualisasi kurva BB &amp; TB dibanding standar WHO, dengan warna hijau/kuning/merah.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92608" y="3090672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Shape 15"/>
          <p:cNvSpPr/>
          <p:nvPr/>
        </p:nvSpPr>
        <p:spPr>
          <a:xfrm>
            <a:off x="292608" y="3090672"/>
            <a:ext cx="2743200" cy="64008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255264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0976" y="32004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2D"/>
                </a:solidFill>
              </a:rPr>
              <a:t>Rekomendasi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02336" y="368503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Saran stimulasi &amp; nutrisi otomatis berdasarkan hasil analisis checklist anak.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00400" y="3090672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5" name="Shape 19"/>
          <p:cNvSpPr/>
          <p:nvPr/>
        </p:nvSpPr>
        <p:spPr>
          <a:xfrm>
            <a:off x="3200400" y="3090672"/>
            <a:ext cx="2743200" cy="64008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255264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58768" y="32004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2D"/>
                </a:solidFill>
              </a:rPr>
              <a:t>Reminder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310128" y="368503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Notifikasi jadwal imunisasi, posyandu, &amp; pemeriksaan rutin agar tak terlewat.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08192" y="3090672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0" name="Shape 23"/>
          <p:cNvSpPr/>
          <p:nvPr/>
        </p:nvSpPr>
        <p:spPr>
          <a:xfrm>
            <a:off x="6108192" y="3090672"/>
            <a:ext cx="2743200" cy="64008"/>
          </a:xfrm>
          <a:prstGeom prst="rect">
            <a:avLst/>
          </a:prstGeom>
          <a:solidFill>
            <a:srgbClr val="5A8C6E"/>
          </a:solidFill>
          <a:ln w="12700">
            <a:solidFill>
              <a:srgbClr val="5A8C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352" y="3255264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66560" y="32004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2D"/>
                </a:solidFill>
              </a:rPr>
              <a:t>Artikel Edukasi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217920" y="368503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Konten berbahasa Indonesia, sederhana, bisa diakses tanpa internet (offline).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Komponen HCI yang Diunggulkan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4206240" cy="17190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35024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28930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2D"/>
                </a:solidFill>
              </a:rPr>
              <a:t>1. Desain Sistem Responsif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38912" y="1764792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Material Design 3 (Flutter) — adaptif semua ukuran layar Android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Navigasi bottom-bar sesuai thumb zone pengguna mobile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Google Fonts + warna kontras untuk keterbacaan optimal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1170432"/>
            <a:ext cx="4206240" cy="17190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335024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13248" y="128930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2D"/>
                </a:solidFill>
              </a:rPr>
              <a:t>2. Visualisasi Data Interaktif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919472" y="1764792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Grafik fl_chart dengan animasi smooth &amp; kurva WHO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Kode warna otomatis: 🟢 Normal · 🟡 Perlu stimulasi · 🔴 Konsultasi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Filter per rentang waktu &amp; perbandingan antar kunjungan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3090672"/>
            <a:ext cx="4206240" cy="17190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255264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32688" y="320954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2D"/>
                </a:solidFill>
              </a:rPr>
              <a:t>3. Personalisasi Berbasis Konteks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38912" y="3685032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Konten &amp; rekomendasi disesuaikan usia anak secara otomatis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Data tersimpan lokal (sqflite) — tidak perlu internet untuk akses riwayat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Provider state management untuk UX tanpa lag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54880" y="3090672"/>
            <a:ext cx="4206240" cy="17190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255264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13248" y="320954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2D"/>
                </a:solidFill>
              </a:rPr>
              <a:t>4. Aksesibilitas &amp; Kepercayaan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919472" y="3685032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Bahasa Indonesia sederhana, ramah untuk orang tua non-teknis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Sumber data valid: KPSP Kemenkes, Buku KIA, WHO milestones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Onboarding cepat: data anak lengkap dalam &lt; 2 menit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C89DF-A9C7-7DA2-D378-0BFA39DCB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1363634-D316-B100-4695-ADE7AB955C4B}"/>
              </a:ext>
            </a:extLst>
          </p:cNvPr>
          <p:cNvSpPr/>
          <p:nvPr/>
        </p:nvSpPr>
        <p:spPr>
          <a:xfrm>
            <a:off x="4465320" y="-819404"/>
            <a:ext cx="6164580" cy="6539992"/>
          </a:xfrm>
          <a:prstGeom prst="ellipse">
            <a:avLst/>
          </a:prstGeom>
          <a:solidFill>
            <a:srgbClr val="4A7C6F">
              <a:alpha val="12000"/>
            </a:srgbClr>
          </a:solidFill>
          <a:ln w="12700">
            <a:solidFill>
              <a:srgbClr val="4A7C6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B7B6BFA-044A-758B-FD70-4A2921FDF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840" y="1108710"/>
            <a:ext cx="822960" cy="82296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2687547-BEA4-6F6D-387C-615C38B8FC8D}"/>
              </a:ext>
            </a:extLst>
          </p:cNvPr>
          <p:cNvSpPr/>
          <p:nvPr/>
        </p:nvSpPr>
        <p:spPr>
          <a:xfrm>
            <a:off x="414867" y="197053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Ada </a:t>
            </a:r>
            <a:r>
              <a:rPr lang="en-US" sz="5200" b="1" dirty="0" err="1">
                <a:solidFill>
                  <a:srgbClr val="FFFFFF"/>
                </a:solidFill>
              </a:rPr>
              <a:t>Pertanyaan</a:t>
            </a:r>
            <a:r>
              <a:rPr lang="en-US" sz="5200" b="1" dirty="0">
                <a:solidFill>
                  <a:srgbClr val="FFFFFF"/>
                </a:solidFill>
              </a:rPr>
              <a:t> ?</a:t>
            </a:r>
            <a:endParaRPr lang="en-US" sz="5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A27B9C0-B5E6-BC93-500E-12BA417A54C3}"/>
              </a:ext>
            </a:extLst>
          </p:cNvPr>
          <p:cNvSpPr/>
          <p:nvPr/>
        </p:nvSpPr>
        <p:spPr>
          <a:xfrm>
            <a:off x="457200" y="300837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84B59F"/>
                </a:solidFill>
              </a:rPr>
              <a:t>“</a:t>
            </a:r>
            <a:r>
              <a:rPr lang="en-US" sz="1700" i="1" dirty="0" err="1">
                <a:solidFill>
                  <a:srgbClr val="84B59F"/>
                </a:solidFill>
              </a:rPr>
              <a:t>SmarthGrowth</a:t>
            </a:r>
            <a:r>
              <a:rPr lang="en-US" sz="1700" i="1" dirty="0">
                <a:solidFill>
                  <a:srgbClr val="84B59F"/>
                </a:solidFill>
              </a:rPr>
              <a:t>, </a:t>
            </a:r>
            <a:r>
              <a:rPr lang="en-US" sz="1700" i="1" dirty="0" err="1">
                <a:solidFill>
                  <a:srgbClr val="84B59F"/>
                </a:solidFill>
              </a:rPr>
              <a:t>Tumbuh</a:t>
            </a:r>
            <a:r>
              <a:rPr lang="en-US" sz="1700" i="1" dirty="0">
                <a:solidFill>
                  <a:srgbClr val="84B59F"/>
                </a:solidFill>
              </a:rPr>
              <a:t> Bersama, Pintar Bersama"</a:t>
            </a:r>
            <a:endParaRPr lang="en-US" sz="17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036E5CA-582B-A9AB-071B-A590B9286DB0}"/>
              </a:ext>
            </a:extLst>
          </p:cNvPr>
          <p:cNvSpPr/>
          <p:nvPr/>
        </p:nvSpPr>
        <p:spPr>
          <a:xfrm>
            <a:off x="3200400" y="3712464"/>
            <a:ext cx="2743200" cy="36576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00CE323-3C0D-BDC6-E3AA-33BD9C51BBB8}"/>
              </a:ext>
            </a:extLst>
          </p:cNvPr>
          <p:cNvSpPr/>
          <p:nvPr/>
        </p:nvSpPr>
        <p:spPr>
          <a:xfrm>
            <a:off x="137160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033AC4B-4A25-AD11-DC91-52C0230A14D5}"/>
              </a:ext>
            </a:extLst>
          </p:cNvPr>
          <p:cNvSpPr/>
          <p:nvPr/>
        </p:nvSpPr>
        <p:spPr>
          <a:xfrm>
            <a:off x="1371600" y="3749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A425805-1201-856C-CC97-585AC5A16F41}"/>
              </a:ext>
            </a:extLst>
          </p:cNvPr>
          <p:cNvSpPr/>
          <p:nvPr/>
        </p:nvSpPr>
        <p:spPr>
          <a:xfrm>
            <a:off x="502920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F3DADBC-3FCE-1C50-CF76-BF52A4EDD6E7}"/>
              </a:ext>
            </a:extLst>
          </p:cNvPr>
          <p:cNvSpPr/>
          <p:nvPr/>
        </p:nvSpPr>
        <p:spPr>
          <a:xfrm>
            <a:off x="5029200" y="3749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89067F3-7684-9D48-2220-BF3E9400AE52}"/>
              </a:ext>
            </a:extLst>
          </p:cNvPr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55012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91447" y="-288766"/>
            <a:ext cx="5554494" cy="5935915"/>
          </a:xfrm>
          <a:prstGeom prst="ellipse">
            <a:avLst/>
          </a:prstGeom>
          <a:solidFill>
            <a:srgbClr val="4A7C6F">
              <a:alpha val="12000"/>
            </a:srgbClr>
          </a:solidFill>
          <a:ln w="12700">
            <a:solidFill>
              <a:srgbClr val="4A7C6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893651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04451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 err="1">
                <a:solidFill>
                  <a:srgbClr val="FFFFFF"/>
                </a:solidFill>
              </a:rPr>
              <a:t>Terima</a:t>
            </a:r>
            <a:r>
              <a:rPr lang="en-US" sz="5200" b="1" dirty="0">
                <a:solidFill>
                  <a:srgbClr val="FFFFFF"/>
                </a:solidFill>
              </a:rPr>
              <a:t> </a:t>
            </a:r>
            <a:r>
              <a:rPr lang="en-US" sz="5200" b="1" dirty="0" err="1">
                <a:solidFill>
                  <a:srgbClr val="FFFFFF"/>
                </a:solidFill>
              </a:rPr>
              <a:t>kasih</a:t>
            </a:r>
            <a:r>
              <a:rPr lang="en-US" sz="5200" b="1" dirty="0">
                <a:solidFill>
                  <a:srgbClr val="FFFFFF"/>
                </a:solidFill>
              </a:rPr>
              <a:t> 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2450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84B59F"/>
                </a:solidFill>
              </a:rPr>
              <a:t>“</a:t>
            </a:r>
            <a:r>
              <a:rPr lang="en-US" sz="1700" i="1" dirty="0" err="1">
                <a:solidFill>
                  <a:srgbClr val="84B59F"/>
                </a:solidFill>
              </a:rPr>
              <a:t>SmartGrowth</a:t>
            </a:r>
            <a:r>
              <a:rPr lang="en-US" sz="1700" i="1" dirty="0">
                <a:solidFill>
                  <a:srgbClr val="84B59F"/>
                </a:solidFill>
              </a:rPr>
              <a:t>, </a:t>
            </a:r>
            <a:r>
              <a:rPr lang="en-US" sz="1700" i="1" dirty="0" err="1">
                <a:solidFill>
                  <a:srgbClr val="84B59F"/>
                </a:solidFill>
              </a:rPr>
              <a:t>Tumbuh</a:t>
            </a:r>
            <a:r>
              <a:rPr lang="en-US" sz="1700" i="1" dirty="0">
                <a:solidFill>
                  <a:srgbClr val="84B59F"/>
                </a:solidFill>
              </a:rPr>
              <a:t> Bersama, Pintar Bersama"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3200400" y="3268980"/>
            <a:ext cx="2743200" cy="36576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137160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0" y="3749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5CA921F6-0899-429E-DB89-C5A560B01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32851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1022</Words>
  <Application>Microsoft Office PowerPoint</Application>
  <PresentationFormat>On-screen Show (16:9)</PresentationFormat>
  <Paragraphs>154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SmarthGrowth PPT v3</dc:title>
  <dc:subject>PptxGenJS Presentation</dc:subject>
  <dc:creator>PptxGenJS</dc:creator>
  <cp:lastModifiedBy>lenovo core i5</cp:lastModifiedBy>
  <cp:revision>5</cp:revision>
  <dcterms:created xsi:type="dcterms:W3CDTF">2026-06-07T13:25:56Z</dcterms:created>
  <dcterms:modified xsi:type="dcterms:W3CDTF">2026-06-08T06:05:56Z</dcterms:modified>
</cp:coreProperties>
</file>